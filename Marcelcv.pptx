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Poppins" panose="020B0604020202020204" charset="0"/>
      <p:regular r:id="rId3"/>
    </p:embeddedFont>
    <p:embeddedFont>
      <p:font typeface="Poppins Light" panose="020B0604020202020204" charset="0"/>
      <p:regular r:id="rId4"/>
    </p:embeddedFont>
    <p:embeddedFont>
      <p:font typeface="Calibri" panose="020F0502020204030204" pitchFamily="34" charset="0"/>
      <p:regular r:id="rId5"/>
      <p:bold r:id="rId6"/>
      <p:italic r:id="rId7"/>
      <p:boldItalic r:id="rId8"/>
    </p:embeddedFont>
    <p:embeddedFont>
      <p:font typeface="Poppins Semi-Bold" panose="020B0604020202020204" charset="0"/>
      <p:regular r:id="rId9"/>
    </p:embeddedFont>
    <p:embeddedFont>
      <p:font typeface="Poppins Medium" panose="020B0604020202020204" charset="0"/>
      <p:regular r:id="rId10"/>
    </p:embeddedFont>
    <p:embeddedFont>
      <p:font typeface="Poppins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7" d="100"/>
          <a:sy n="77" d="100"/>
        </p:scale>
        <p:origin x="1360" y="1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font" Target="fonts/font9.fntdata"/><Relationship Id="rId5" Type="http://schemas.openxmlformats.org/officeDocument/2006/relationships/font" Target="fonts/font3.fntdata"/><Relationship Id="rId15" Type="http://schemas.openxmlformats.org/officeDocument/2006/relationships/tableStyles" Target="tableStyles.xml"/><Relationship Id="rId10" Type="http://schemas.openxmlformats.org/officeDocument/2006/relationships/font" Target="fonts/font8.fntdata"/><Relationship Id="rId4" Type="http://schemas.openxmlformats.org/officeDocument/2006/relationships/font" Target="fonts/font2.fntdata"/><Relationship Id="rId9" Type="http://schemas.openxmlformats.org/officeDocument/2006/relationships/font" Target="fonts/font7.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28600"/>
            <a:ext cx="7560000" cy="358846"/>
            <a:chOff x="0" y="0"/>
            <a:chExt cx="2709333" cy="128602"/>
          </a:xfrm>
        </p:grpSpPr>
        <p:sp>
          <p:nvSpPr>
            <p:cNvPr id="3" name="Freeform 3"/>
            <p:cNvSpPr/>
            <p:nvPr/>
          </p:nvSpPr>
          <p:spPr>
            <a:xfrm>
              <a:off x="0" y="0"/>
              <a:ext cx="2709333" cy="128602"/>
            </a:xfrm>
            <a:custGeom>
              <a:avLst/>
              <a:gdLst/>
              <a:ahLst/>
              <a:cxnLst/>
              <a:rect l="l" t="t" r="r" b="b"/>
              <a:pathLst>
                <a:path w="2709333" h="128602">
                  <a:moveTo>
                    <a:pt x="0" y="0"/>
                  </a:moveTo>
                  <a:lnTo>
                    <a:pt x="2709333" y="0"/>
                  </a:lnTo>
                  <a:lnTo>
                    <a:pt x="2709333" y="128602"/>
                  </a:lnTo>
                  <a:lnTo>
                    <a:pt x="0" y="128602"/>
                  </a:lnTo>
                  <a:close/>
                </a:path>
              </a:pathLst>
            </a:custGeom>
            <a:solidFill>
              <a:srgbClr val="250DAB"/>
            </a:solidFill>
          </p:spPr>
        </p:sp>
        <p:sp>
          <p:nvSpPr>
            <p:cNvPr id="4" name="TextBox 4"/>
            <p:cNvSpPr txBox="1"/>
            <p:nvPr/>
          </p:nvSpPr>
          <p:spPr>
            <a:xfrm>
              <a:off x="0" y="28575"/>
              <a:ext cx="2709333" cy="100027"/>
            </a:xfrm>
            <a:prstGeom prst="rect">
              <a:avLst/>
            </a:prstGeom>
          </p:spPr>
          <p:txBody>
            <a:bodyPr lIns="50800" tIns="50800" rIns="50800" bIns="50800" rtlCol="0" anchor="ctr"/>
            <a:lstStyle/>
            <a:p>
              <a:pPr algn="ctr">
                <a:lnSpc>
                  <a:spcPts val="1800"/>
                </a:lnSpc>
              </a:pPr>
              <a:endParaRPr/>
            </a:p>
          </p:txBody>
        </p:sp>
      </p:grpSp>
      <p:grpSp>
        <p:nvGrpSpPr>
          <p:cNvPr id="5" name="Group 5"/>
          <p:cNvGrpSpPr/>
          <p:nvPr/>
        </p:nvGrpSpPr>
        <p:grpSpPr>
          <a:xfrm>
            <a:off x="0" y="10561754"/>
            <a:ext cx="7560000" cy="374086"/>
            <a:chOff x="0" y="0"/>
            <a:chExt cx="2709333" cy="134064"/>
          </a:xfrm>
        </p:grpSpPr>
        <p:sp>
          <p:nvSpPr>
            <p:cNvPr id="6" name="Freeform 6"/>
            <p:cNvSpPr/>
            <p:nvPr/>
          </p:nvSpPr>
          <p:spPr>
            <a:xfrm>
              <a:off x="0" y="0"/>
              <a:ext cx="2709333" cy="134064"/>
            </a:xfrm>
            <a:custGeom>
              <a:avLst/>
              <a:gdLst/>
              <a:ahLst/>
              <a:cxnLst/>
              <a:rect l="l" t="t" r="r" b="b"/>
              <a:pathLst>
                <a:path w="2709333" h="134064">
                  <a:moveTo>
                    <a:pt x="0" y="0"/>
                  </a:moveTo>
                  <a:lnTo>
                    <a:pt x="2709333" y="0"/>
                  </a:lnTo>
                  <a:lnTo>
                    <a:pt x="2709333" y="134064"/>
                  </a:lnTo>
                  <a:lnTo>
                    <a:pt x="0" y="134064"/>
                  </a:lnTo>
                  <a:close/>
                </a:path>
              </a:pathLst>
            </a:custGeom>
            <a:solidFill>
              <a:srgbClr val="250DAB"/>
            </a:solidFill>
          </p:spPr>
        </p:sp>
        <p:sp>
          <p:nvSpPr>
            <p:cNvPr id="7" name="TextBox 7"/>
            <p:cNvSpPr txBox="1"/>
            <p:nvPr/>
          </p:nvSpPr>
          <p:spPr>
            <a:xfrm>
              <a:off x="0" y="28575"/>
              <a:ext cx="2709333" cy="105489"/>
            </a:xfrm>
            <a:prstGeom prst="rect">
              <a:avLst/>
            </a:prstGeom>
          </p:spPr>
          <p:txBody>
            <a:bodyPr lIns="50800" tIns="50800" rIns="50800" bIns="50800" rtlCol="0" anchor="ctr"/>
            <a:lstStyle/>
            <a:p>
              <a:pPr algn="ctr">
                <a:lnSpc>
                  <a:spcPts val="1800"/>
                </a:lnSpc>
              </a:pPr>
              <a:endParaRPr/>
            </a:p>
          </p:txBody>
        </p:sp>
      </p:grpSp>
      <p:grpSp>
        <p:nvGrpSpPr>
          <p:cNvPr id="8" name="Group 8"/>
          <p:cNvGrpSpPr/>
          <p:nvPr/>
        </p:nvGrpSpPr>
        <p:grpSpPr>
          <a:xfrm>
            <a:off x="262297" y="471007"/>
            <a:ext cx="1533536" cy="1883397"/>
            <a:chOff x="0" y="88366"/>
            <a:chExt cx="733033" cy="775737"/>
          </a:xfrm>
        </p:grpSpPr>
        <p:sp>
          <p:nvSpPr>
            <p:cNvPr id="9" name="Freeform 9"/>
            <p:cNvSpPr/>
            <p:nvPr/>
          </p:nvSpPr>
          <p:spPr>
            <a:xfrm>
              <a:off x="0" y="88366"/>
              <a:ext cx="733033" cy="775737"/>
            </a:xfrm>
            <a:custGeom>
              <a:avLst/>
              <a:gdLst/>
              <a:ahLst/>
              <a:cxnLst/>
              <a:rect l="l" t="t" r="r" b="b"/>
              <a:pathLst>
                <a:path w="713601" h="892001">
                  <a:moveTo>
                    <a:pt x="0" y="0"/>
                  </a:moveTo>
                  <a:lnTo>
                    <a:pt x="713601" y="0"/>
                  </a:lnTo>
                  <a:lnTo>
                    <a:pt x="713601" y="892001"/>
                  </a:lnTo>
                  <a:lnTo>
                    <a:pt x="0" y="892001"/>
                  </a:lnTo>
                  <a:close/>
                </a:path>
              </a:pathLst>
            </a:custGeom>
            <a:blipFill dpi="0" rotWithShape="1">
              <a:blip r:embed="rId2" cstate="print">
                <a:extLst>
                  <a:ext uri="{28A0092B-C50C-407E-A947-70E740481C1C}">
                    <a14:useLocalDpi xmlns:a14="http://schemas.microsoft.com/office/drawing/2010/main" val="0"/>
                  </a:ext>
                </a:extLst>
              </a:blip>
              <a:srcRect/>
              <a:stretch>
                <a:fillRect/>
              </a:stretch>
            </a:blipFill>
          </p:spPr>
        </p:sp>
      </p:grpSp>
      <p:sp>
        <p:nvSpPr>
          <p:cNvPr id="10" name="AutoShape 10"/>
          <p:cNvSpPr/>
          <p:nvPr/>
        </p:nvSpPr>
        <p:spPr>
          <a:xfrm>
            <a:off x="339713" y="2466347"/>
            <a:ext cx="6857502" cy="0"/>
          </a:xfrm>
          <a:prstGeom prst="line">
            <a:avLst/>
          </a:prstGeom>
          <a:ln w="9525" cap="flat">
            <a:solidFill>
              <a:srgbClr val="250DAB"/>
            </a:solidFill>
            <a:prstDash val="solid"/>
            <a:headEnd type="none" w="sm" len="sm"/>
            <a:tailEnd type="none" w="sm" len="sm"/>
          </a:ln>
        </p:spPr>
      </p:sp>
      <p:sp>
        <p:nvSpPr>
          <p:cNvPr id="11" name="AutoShape 11"/>
          <p:cNvSpPr/>
          <p:nvPr/>
        </p:nvSpPr>
        <p:spPr>
          <a:xfrm>
            <a:off x="339713" y="2881299"/>
            <a:ext cx="6857502" cy="0"/>
          </a:xfrm>
          <a:prstGeom prst="line">
            <a:avLst/>
          </a:prstGeom>
          <a:ln w="9525" cap="flat">
            <a:solidFill>
              <a:srgbClr val="250DAB"/>
            </a:solidFill>
            <a:prstDash val="solid"/>
            <a:headEnd type="none" w="sm" len="sm"/>
            <a:tailEnd type="none" w="sm" len="sm"/>
          </a:ln>
        </p:spPr>
      </p:sp>
      <p:sp>
        <p:nvSpPr>
          <p:cNvPr id="12" name="Freeform 12"/>
          <p:cNvSpPr/>
          <p:nvPr/>
        </p:nvSpPr>
        <p:spPr>
          <a:xfrm>
            <a:off x="676093" y="2569102"/>
            <a:ext cx="223506" cy="223506"/>
          </a:xfrm>
          <a:custGeom>
            <a:avLst/>
            <a:gdLst/>
            <a:ahLst/>
            <a:cxnLst/>
            <a:rect l="l" t="t" r="r" b="b"/>
            <a:pathLst>
              <a:path w="223506" h="223506">
                <a:moveTo>
                  <a:pt x="0" y="0"/>
                </a:moveTo>
                <a:lnTo>
                  <a:pt x="223506" y="0"/>
                </a:lnTo>
                <a:lnTo>
                  <a:pt x="223506" y="223506"/>
                </a:lnTo>
                <a:lnTo>
                  <a:pt x="0" y="22350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3" name="Freeform 13"/>
          <p:cNvSpPr/>
          <p:nvPr/>
        </p:nvSpPr>
        <p:spPr>
          <a:xfrm>
            <a:off x="3278449" y="2569102"/>
            <a:ext cx="223506" cy="223506"/>
          </a:xfrm>
          <a:custGeom>
            <a:avLst/>
            <a:gdLst/>
            <a:ahLst/>
            <a:cxnLst/>
            <a:rect l="l" t="t" r="r" b="b"/>
            <a:pathLst>
              <a:path w="223506" h="223506">
                <a:moveTo>
                  <a:pt x="0" y="0"/>
                </a:moveTo>
                <a:lnTo>
                  <a:pt x="223506" y="0"/>
                </a:lnTo>
                <a:lnTo>
                  <a:pt x="223506" y="223506"/>
                </a:lnTo>
                <a:lnTo>
                  <a:pt x="0" y="223506"/>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4" name="Freeform 14"/>
          <p:cNvSpPr/>
          <p:nvPr/>
        </p:nvSpPr>
        <p:spPr>
          <a:xfrm>
            <a:off x="5238854" y="2569102"/>
            <a:ext cx="223506" cy="223506"/>
          </a:xfrm>
          <a:custGeom>
            <a:avLst/>
            <a:gdLst/>
            <a:ahLst/>
            <a:cxnLst/>
            <a:rect l="l" t="t" r="r" b="b"/>
            <a:pathLst>
              <a:path w="223506" h="223506">
                <a:moveTo>
                  <a:pt x="0" y="0"/>
                </a:moveTo>
                <a:lnTo>
                  <a:pt x="223506" y="0"/>
                </a:lnTo>
                <a:lnTo>
                  <a:pt x="223506" y="223506"/>
                </a:lnTo>
                <a:lnTo>
                  <a:pt x="0" y="223506"/>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5" name="AutoShape 15"/>
          <p:cNvSpPr/>
          <p:nvPr/>
        </p:nvSpPr>
        <p:spPr>
          <a:xfrm flipH="1" flipV="1">
            <a:off x="3393924" y="3583503"/>
            <a:ext cx="0" cy="1769827"/>
          </a:xfrm>
          <a:prstGeom prst="line">
            <a:avLst/>
          </a:prstGeom>
          <a:ln w="19050" cap="flat">
            <a:solidFill>
              <a:srgbClr val="250DAB"/>
            </a:solidFill>
            <a:prstDash val="solid"/>
            <a:headEnd type="none" w="sm" len="sm"/>
            <a:tailEnd type="oval" w="lg" len="lg"/>
          </a:ln>
        </p:spPr>
      </p:sp>
      <p:sp>
        <p:nvSpPr>
          <p:cNvPr id="16" name="AutoShape 16"/>
          <p:cNvSpPr/>
          <p:nvPr/>
        </p:nvSpPr>
        <p:spPr>
          <a:xfrm flipH="1" flipV="1">
            <a:off x="3393924" y="5348530"/>
            <a:ext cx="0" cy="1877266"/>
          </a:xfrm>
          <a:prstGeom prst="line">
            <a:avLst/>
          </a:prstGeom>
          <a:ln w="19050" cap="flat">
            <a:solidFill>
              <a:srgbClr val="250DAB"/>
            </a:solidFill>
            <a:prstDash val="solid"/>
            <a:headEnd type="none" w="sm" len="sm"/>
            <a:tailEnd type="oval" w="lg" len="lg"/>
          </a:ln>
        </p:spPr>
      </p:sp>
      <p:sp>
        <p:nvSpPr>
          <p:cNvPr id="17" name="AutoShape 17"/>
          <p:cNvSpPr/>
          <p:nvPr/>
        </p:nvSpPr>
        <p:spPr>
          <a:xfrm flipV="1">
            <a:off x="3393924" y="7219328"/>
            <a:ext cx="0" cy="1576117"/>
          </a:xfrm>
          <a:prstGeom prst="line">
            <a:avLst/>
          </a:prstGeom>
          <a:ln w="19050" cap="flat">
            <a:solidFill>
              <a:srgbClr val="250DAB"/>
            </a:solidFill>
            <a:prstDash val="solid"/>
            <a:headEnd type="none" w="sm" len="sm"/>
            <a:tailEnd type="oval" w="lg" len="lg"/>
          </a:ln>
        </p:spPr>
      </p:sp>
      <p:sp>
        <p:nvSpPr>
          <p:cNvPr id="18" name="AutoShape 18"/>
          <p:cNvSpPr/>
          <p:nvPr/>
        </p:nvSpPr>
        <p:spPr>
          <a:xfrm flipH="1" flipV="1">
            <a:off x="3393924" y="8795445"/>
            <a:ext cx="0" cy="1712054"/>
          </a:xfrm>
          <a:prstGeom prst="line">
            <a:avLst/>
          </a:prstGeom>
          <a:ln w="19050" cap="flat">
            <a:solidFill>
              <a:srgbClr val="250DAB"/>
            </a:solidFill>
            <a:prstDash val="solid"/>
            <a:headEnd type="none" w="sm" len="sm"/>
            <a:tailEnd type="oval" w="lg" len="lg"/>
          </a:ln>
        </p:spPr>
      </p:sp>
      <p:grpSp>
        <p:nvGrpSpPr>
          <p:cNvPr id="19" name="Group 19"/>
          <p:cNvGrpSpPr/>
          <p:nvPr/>
        </p:nvGrpSpPr>
        <p:grpSpPr>
          <a:xfrm>
            <a:off x="339713" y="3151986"/>
            <a:ext cx="2857180" cy="5197742"/>
            <a:chOff x="0" y="0"/>
            <a:chExt cx="1023949" cy="1862754"/>
          </a:xfrm>
        </p:grpSpPr>
        <p:sp>
          <p:nvSpPr>
            <p:cNvPr id="20" name="Freeform 20"/>
            <p:cNvSpPr/>
            <p:nvPr/>
          </p:nvSpPr>
          <p:spPr>
            <a:xfrm>
              <a:off x="0" y="0"/>
              <a:ext cx="1023949" cy="1862754"/>
            </a:xfrm>
            <a:custGeom>
              <a:avLst/>
              <a:gdLst/>
              <a:ahLst/>
              <a:cxnLst/>
              <a:rect l="l" t="t" r="r" b="b"/>
              <a:pathLst>
                <a:path w="1023949" h="1862754">
                  <a:moveTo>
                    <a:pt x="0" y="0"/>
                  </a:moveTo>
                  <a:lnTo>
                    <a:pt x="1023949" y="0"/>
                  </a:lnTo>
                  <a:lnTo>
                    <a:pt x="1023949" y="1862754"/>
                  </a:lnTo>
                  <a:lnTo>
                    <a:pt x="0" y="1862754"/>
                  </a:lnTo>
                  <a:close/>
                </a:path>
              </a:pathLst>
            </a:custGeom>
            <a:solidFill>
              <a:srgbClr val="F5F7FF"/>
            </a:solidFill>
          </p:spPr>
        </p:sp>
        <p:sp>
          <p:nvSpPr>
            <p:cNvPr id="21" name="TextBox 21"/>
            <p:cNvSpPr txBox="1"/>
            <p:nvPr/>
          </p:nvSpPr>
          <p:spPr>
            <a:xfrm>
              <a:off x="0" y="28575"/>
              <a:ext cx="1023949" cy="1834179"/>
            </a:xfrm>
            <a:prstGeom prst="rect">
              <a:avLst/>
            </a:prstGeom>
          </p:spPr>
          <p:txBody>
            <a:bodyPr lIns="50800" tIns="50800" rIns="50800" bIns="50800" rtlCol="0" anchor="ctr"/>
            <a:lstStyle/>
            <a:p>
              <a:pPr algn="ctr">
                <a:lnSpc>
                  <a:spcPts val="1800"/>
                </a:lnSpc>
              </a:pPr>
              <a:endParaRPr/>
            </a:p>
          </p:txBody>
        </p:sp>
      </p:grpSp>
      <p:grpSp>
        <p:nvGrpSpPr>
          <p:cNvPr id="22" name="Group 22"/>
          <p:cNvGrpSpPr/>
          <p:nvPr/>
        </p:nvGrpSpPr>
        <p:grpSpPr>
          <a:xfrm>
            <a:off x="339713" y="8464028"/>
            <a:ext cx="2857180" cy="2043470"/>
            <a:chOff x="0" y="0"/>
            <a:chExt cx="1023949" cy="732334"/>
          </a:xfrm>
        </p:grpSpPr>
        <p:sp>
          <p:nvSpPr>
            <p:cNvPr id="23" name="Freeform 23"/>
            <p:cNvSpPr/>
            <p:nvPr/>
          </p:nvSpPr>
          <p:spPr>
            <a:xfrm>
              <a:off x="0" y="0"/>
              <a:ext cx="1023949" cy="732334"/>
            </a:xfrm>
            <a:custGeom>
              <a:avLst/>
              <a:gdLst/>
              <a:ahLst/>
              <a:cxnLst/>
              <a:rect l="l" t="t" r="r" b="b"/>
              <a:pathLst>
                <a:path w="1023949" h="732334">
                  <a:moveTo>
                    <a:pt x="0" y="0"/>
                  </a:moveTo>
                  <a:lnTo>
                    <a:pt x="1023949" y="0"/>
                  </a:lnTo>
                  <a:lnTo>
                    <a:pt x="1023949" y="732334"/>
                  </a:lnTo>
                  <a:lnTo>
                    <a:pt x="0" y="732334"/>
                  </a:lnTo>
                  <a:close/>
                </a:path>
              </a:pathLst>
            </a:custGeom>
            <a:solidFill>
              <a:srgbClr val="F5F7FF"/>
            </a:solidFill>
          </p:spPr>
        </p:sp>
        <p:sp>
          <p:nvSpPr>
            <p:cNvPr id="24" name="TextBox 24"/>
            <p:cNvSpPr txBox="1"/>
            <p:nvPr/>
          </p:nvSpPr>
          <p:spPr>
            <a:xfrm>
              <a:off x="0" y="28575"/>
              <a:ext cx="1023949" cy="703759"/>
            </a:xfrm>
            <a:prstGeom prst="rect">
              <a:avLst/>
            </a:prstGeom>
          </p:spPr>
          <p:txBody>
            <a:bodyPr lIns="50800" tIns="50800" rIns="50800" bIns="50800" rtlCol="0" anchor="ctr"/>
            <a:lstStyle/>
            <a:p>
              <a:pPr algn="ctr">
                <a:lnSpc>
                  <a:spcPts val="1800"/>
                </a:lnSpc>
              </a:pPr>
              <a:endParaRPr/>
            </a:p>
          </p:txBody>
        </p:sp>
      </p:grpSp>
      <p:sp>
        <p:nvSpPr>
          <p:cNvPr id="25" name="TextBox 25"/>
          <p:cNvSpPr txBox="1"/>
          <p:nvPr/>
        </p:nvSpPr>
        <p:spPr>
          <a:xfrm>
            <a:off x="2005136" y="1572787"/>
            <a:ext cx="5175254" cy="910589"/>
          </a:xfrm>
          <a:prstGeom prst="rect">
            <a:avLst/>
          </a:prstGeom>
        </p:spPr>
        <p:txBody>
          <a:bodyPr lIns="0" tIns="0" rIns="0" bIns="0" rtlCol="0" anchor="t">
            <a:spAutoFit/>
          </a:bodyPr>
          <a:lstStyle/>
          <a:p>
            <a:pPr marL="0" lvl="0" indent="0" algn="l">
              <a:lnSpc>
                <a:spcPts val="1260"/>
              </a:lnSpc>
            </a:pPr>
            <a:r>
              <a:rPr lang="en-US" sz="900" spc="45">
                <a:solidFill>
                  <a:srgbClr val="07113C"/>
                </a:solidFill>
                <a:latin typeface="Poppins"/>
                <a:ea typeface="Poppins"/>
                <a:cs typeface="Poppins"/>
                <a:sym typeface="Poppins"/>
              </a:rPr>
              <a:t>Diplomé au departement : Instrumentation, Mesures Physiques à l’Institut Supérieur de Technologie de Mamou, passionné par la conception de systèmes intelligents adaptés aux réalités locales. Mon parcours allie électricité industrielle, électronique embarquée, programmation web, la maintenance des équipements électroniques et électriques .</a:t>
            </a:r>
          </a:p>
          <a:p>
            <a:pPr marL="0" lvl="0" indent="0" algn="l">
              <a:lnSpc>
                <a:spcPts val="1260"/>
              </a:lnSpc>
            </a:pPr>
            <a:endParaRPr lang="en-US" sz="900" spc="45">
              <a:solidFill>
                <a:srgbClr val="07113C"/>
              </a:solidFill>
              <a:latin typeface="Poppins"/>
              <a:ea typeface="Poppins"/>
              <a:cs typeface="Poppins"/>
              <a:sym typeface="Poppins"/>
            </a:endParaRPr>
          </a:p>
        </p:txBody>
      </p:sp>
      <p:sp>
        <p:nvSpPr>
          <p:cNvPr id="26" name="TextBox 26"/>
          <p:cNvSpPr txBox="1"/>
          <p:nvPr/>
        </p:nvSpPr>
        <p:spPr>
          <a:xfrm>
            <a:off x="2005136" y="471007"/>
            <a:ext cx="5175254" cy="421005"/>
          </a:xfrm>
          <a:prstGeom prst="rect">
            <a:avLst/>
          </a:prstGeom>
        </p:spPr>
        <p:txBody>
          <a:bodyPr lIns="0" tIns="0" rIns="0" bIns="0" rtlCol="0" anchor="t">
            <a:spAutoFit/>
          </a:bodyPr>
          <a:lstStyle/>
          <a:p>
            <a:pPr marL="0" lvl="0" indent="0" algn="l">
              <a:lnSpc>
                <a:spcPts val="3060"/>
              </a:lnSpc>
            </a:pPr>
            <a:r>
              <a:rPr lang="en-US" sz="3000" spc="150">
                <a:solidFill>
                  <a:srgbClr val="07113C"/>
                </a:solidFill>
                <a:latin typeface="Poppins Light"/>
                <a:ea typeface="Poppins Light"/>
                <a:cs typeface="Poppins Light"/>
                <a:sym typeface="Poppins Light"/>
              </a:rPr>
              <a:t>LENO</a:t>
            </a:r>
          </a:p>
        </p:txBody>
      </p:sp>
      <p:sp>
        <p:nvSpPr>
          <p:cNvPr id="27" name="TextBox 27"/>
          <p:cNvSpPr txBox="1"/>
          <p:nvPr/>
        </p:nvSpPr>
        <p:spPr>
          <a:xfrm>
            <a:off x="2005136" y="872465"/>
            <a:ext cx="5175254" cy="421005"/>
          </a:xfrm>
          <a:prstGeom prst="rect">
            <a:avLst/>
          </a:prstGeom>
        </p:spPr>
        <p:txBody>
          <a:bodyPr lIns="0" tIns="0" rIns="0" bIns="0" rtlCol="0" anchor="t">
            <a:spAutoFit/>
          </a:bodyPr>
          <a:lstStyle/>
          <a:p>
            <a:pPr marL="0" lvl="0" indent="0" algn="l">
              <a:lnSpc>
                <a:spcPts val="3060"/>
              </a:lnSpc>
            </a:pPr>
            <a:r>
              <a:rPr lang="en-US" sz="3000" b="1" spc="150">
                <a:solidFill>
                  <a:srgbClr val="07113C"/>
                </a:solidFill>
                <a:latin typeface="Poppins Bold"/>
                <a:ea typeface="Poppins Bold"/>
                <a:cs typeface="Poppins Bold"/>
                <a:sym typeface="Poppins Bold"/>
              </a:rPr>
              <a:t>MARCEL FAYA</a:t>
            </a:r>
          </a:p>
        </p:txBody>
      </p:sp>
      <p:sp>
        <p:nvSpPr>
          <p:cNvPr id="28" name="TextBox 28"/>
          <p:cNvSpPr txBox="1"/>
          <p:nvPr/>
        </p:nvSpPr>
        <p:spPr>
          <a:xfrm>
            <a:off x="2025106" y="1350620"/>
            <a:ext cx="4858801" cy="171723"/>
          </a:xfrm>
          <a:prstGeom prst="rect">
            <a:avLst/>
          </a:prstGeom>
        </p:spPr>
        <p:txBody>
          <a:bodyPr lIns="0" tIns="0" rIns="0" bIns="0" rtlCol="0" anchor="t">
            <a:spAutoFit/>
          </a:bodyPr>
          <a:lstStyle/>
          <a:p>
            <a:pPr marL="0" lvl="0" indent="0" algn="l">
              <a:lnSpc>
                <a:spcPts val="1204"/>
              </a:lnSpc>
            </a:pPr>
            <a:r>
              <a:rPr lang="en-US" sz="1204" b="1" spc="60">
                <a:solidFill>
                  <a:srgbClr val="07113C"/>
                </a:solidFill>
                <a:latin typeface="Poppins Medium"/>
                <a:ea typeface="Poppins Medium"/>
                <a:cs typeface="Poppins Medium"/>
                <a:sym typeface="Poppins Medium"/>
              </a:rPr>
              <a:t>INGENIEUR EN INSTRUMENTATION ET MESURES PHYSIQUES</a:t>
            </a:r>
          </a:p>
        </p:txBody>
      </p:sp>
      <p:sp>
        <p:nvSpPr>
          <p:cNvPr id="29" name="TextBox 29"/>
          <p:cNvSpPr txBox="1"/>
          <p:nvPr/>
        </p:nvSpPr>
        <p:spPr>
          <a:xfrm>
            <a:off x="989633" y="2597035"/>
            <a:ext cx="2031006" cy="148590"/>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Medium"/>
                <a:ea typeface="Poppins Medium"/>
                <a:cs typeface="Poppins Medium"/>
                <a:sym typeface="Poppins Medium"/>
              </a:rPr>
              <a:t>marcelfayaleno576@gmail.com</a:t>
            </a:r>
          </a:p>
        </p:txBody>
      </p:sp>
      <p:sp>
        <p:nvSpPr>
          <p:cNvPr id="30" name="TextBox 30"/>
          <p:cNvSpPr txBox="1"/>
          <p:nvPr/>
        </p:nvSpPr>
        <p:spPr>
          <a:xfrm>
            <a:off x="3587680" y="2597035"/>
            <a:ext cx="1239163" cy="148590"/>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Medium"/>
                <a:ea typeface="Poppins Medium"/>
                <a:cs typeface="Poppins Medium"/>
                <a:sym typeface="Poppins Medium"/>
              </a:rPr>
              <a:t>+224 627 753 890</a:t>
            </a:r>
          </a:p>
        </p:txBody>
      </p:sp>
      <p:sp>
        <p:nvSpPr>
          <p:cNvPr id="31" name="TextBox 31"/>
          <p:cNvSpPr txBox="1"/>
          <p:nvPr/>
        </p:nvSpPr>
        <p:spPr>
          <a:xfrm>
            <a:off x="5531857" y="2597035"/>
            <a:ext cx="1352050" cy="148590"/>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Medium"/>
                <a:ea typeface="Poppins Medium"/>
                <a:cs typeface="Poppins Medium"/>
                <a:sym typeface="Poppins Medium"/>
              </a:rPr>
              <a:t>Actu, en beyla</a:t>
            </a:r>
          </a:p>
        </p:txBody>
      </p:sp>
      <p:sp>
        <p:nvSpPr>
          <p:cNvPr id="32" name="TextBox 32"/>
          <p:cNvSpPr txBox="1"/>
          <p:nvPr/>
        </p:nvSpPr>
        <p:spPr>
          <a:xfrm>
            <a:off x="3384399" y="3161511"/>
            <a:ext cx="2280781" cy="219075"/>
          </a:xfrm>
          <a:prstGeom prst="rect">
            <a:avLst/>
          </a:prstGeom>
        </p:spPr>
        <p:txBody>
          <a:bodyPr lIns="0" tIns="0" rIns="0" bIns="0" rtlCol="0" anchor="t">
            <a:spAutoFit/>
          </a:bodyPr>
          <a:lstStyle/>
          <a:p>
            <a:pPr marL="0" lvl="0" indent="0" algn="l">
              <a:lnSpc>
                <a:spcPts val="1500"/>
              </a:lnSpc>
            </a:pPr>
            <a:r>
              <a:rPr lang="en-US" sz="1500" b="1" spc="75">
                <a:solidFill>
                  <a:srgbClr val="07113C"/>
                </a:solidFill>
                <a:latin typeface="Poppins Semi-Bold"/>
                <a:ea typeface="Poppins Semi-Bold"/>
                <a:cs typeface="Poppins Semi-Bold"/>
                <a:sym typeface="Poppins Semi-Bold"/>
              </a:rPr>
              <a:t>EXPÉRIENCE</a:t>
            </a:r>
          </a:p>
        </p:txBody>
      </p:sp>
      <p:sp>
        <p:nvSpPr>
          <p:cNvPr id="33" name="TextBox 33"/>
          <p:cNvSpPr txBox="1"/>
          <p:nvPr/>
        </p:nvSpPr>
        <p:spPr>
          <a:xfrm>
            <a:off x="464663" y="3252449"/>
            <a:ext cx="2394550" cy="219075"/>
          </a:xfrm>
          <a:prstGeom prst="rect">
            <a:avLst/>
          </a:prstGeom>
        </p:spPr>
        <p:txBody>
          <a:bodyPr lIns="0" tIns="0" rIns="0" bIns="0" rtlCol="0" anchor="t">
            <a:spAutoFit/>
          </a:bodyPr>
          <a:lstStyle/>
          <a:p>
            <a:pPr marL="0" lvl="0" indent="0" algn="l">
              <a:lnSpc>
                <a:spcPts val="1500"/>
              </a:lnSpc>
            </a:pPr>
            <a:r>
              <a:rPr lang="en-US" sz="1500" b="1" spc="75">
                <a:solidFill>
                  <a:srgbClr val="07113C"/>
                </a:solidFill>
                <a:latin typeface="Poppins Semi-Bold"/>
                <a:ea typeface="Poppins Semi-Bold"/>
                <a:cs typeface="Poppins Semi-Bold"/>
                <a:sym typeface="Poppins Semi-Bold"/>
              </a:rPr>
              <a:t>FORMATION</a:t>
            </a:r>
          </a:p>
        </p:txBody>
      </p:sp>
      <p:sp>
        <p:nvSpPr>
          <p:cNvPr id="34" name="TextBox 34"/>
          <p:cNvSpPr txBox="1"/>
          <p:nvPr/>
        </p:nvSpPr>
        <p:spPr>
          <a:xfrm>
            <a:off x="537208" y="9498803"/>
            <a:ext cx="2394550" cy="845819"/>
          </a:xfrm>
          <a:prstGeom prst="rect">
            <a:avLst/>
          </a:prstGeom>
        </p:spPr>
        <p:txBody>
          <a:bodyPr lIns="0" tIns="0" rIns="0" bIns="0" rtlCol="0" anchor="t">
            <a:spAutoFit/>
          </a:bodyPr>
          <a:lstStyle/>
          <a:p>
            <a:pPr algn="l">
              <a:lnSpc>
                <a:spcPts val="1395"/>
              </a:lnSpc>
            </a:pPr>
            <a:r>
              <a:rPr lang="en-US" sz="900" spc="45">
                <a:solidFill>
                  <a:srgbClr val="07113C"/>
                </a:solidFill>
                <a:latin typeface="Poppins"/>
                <a:ea typeface="Poppins"/>
                <a:cs typeface="Poppins"/>
                <a:sym typeface="Poppins"/>
              </a:rPr>
              <a:t>Leadership et gestion d'équipe</a:t>
            </a:r>
          </a:p>
          <a:p>
            <a:pPr algn="l">
              <a:lnSpc>
                <a:spcPts val="1395"/>
              </a:lnSpc>
            </a:pPr>
            <a:r>
              <a:rPr lang="en-US" sz="900" spc="45">
                <a:solidFill>
                  <a:srgbClr val="07113C"/>
                </a:solidFill>
                <a:latin typeface="Poppins"/>
                <a:ea typeface="Poppins"/>
                <a:cs typeface="Poppins"/>
                <a:sym typeface="Poppins"/>
              </a:rPr>
              <a:t>Programmation embarquée</a:t>
            </a:r>
          </a:p>
          <a:p>
            <a:pPr algn="l">
              <a:lnSpc>
                <a:spcPts val="1395"/>
              </a:lnSpc>
            </a:pPr>
            <a:r>
              <a:rPr lang="en-US" sz="900" spc="45">
                <a:solidFill>
                  <a:srgbClr val="07113C"/>
                </a:solidFill>
                <a:latin typeface="Poppins"/>
                <a:ea typeface="Poppins"/>
                <a:cs typeface="Poppins"/>
                <a:sym typeface="Poppins"/>
              </a:rPr>
              <a:t>Maintenance Industrielle</a:t>
            </a:r>
          </a:p>
          <a:p>
            <a:pPr algn="l">
              <a:lnSpc>
                <a:spcPts val="1395"/>
              </a:lnSpc>
            </a:pPr>
            <a:r>
              <a:rPr lang="en-US" sz="900" spc="45">
                <a:solidFill>
                  <a:srgbClr val="07113C"/>
                </a:solidFill>
                <a:latin typeface="Poppins"/>
                <a:ea typeface="Poppins"/>
                <a:cs typeface="Poppins"/>
                <a:sym typeface="Poppins"/>
              </a:rPr>
              <a:t>Développement web</a:t>
            </a:r>
          </a:p>
          <a:p>
            <a:pPr algn="l">
              <a:lnSpc>
                <a:spcPts val="1395"/>
              </a:lnSpc>
            </a:pPr>
            <a:r>
              <a:rPr lang="en-US" sz="900" spc="45">
                <a:solidFill>
                  <a:srgbClr val="07113C"/>
                </a:solidFill>
                <a:latin typeface="Poppins"/>
                <a:ea typeface="Poppins"/>
                <a:cs typeface="Poppins"/>
                <a:sym typeface="Poppins"/>
              </a:rPr>
              <a:t>IoT</a:t>
            </a:r>
          </a:p>
        </p:txBody>
      </p:sp>
      <p:sp>
        <p:nvSpPr>
          <p:cNvPr id="35" name="TextBox 35"/>
          <p:cNvSpPr txBox="1"/>
          <p:nvPr/>
        </p:nvSpPr>
        <p:spPr>
          <a:xfrm>
            <a:off x="537208" y="8741116"/>
            <a:ext cx="2394550" cy="502919"/>
          </a:xfrm>
          <a:prstGeom prst="rect">
            <a:avLst/>
          </a:prstGeom>
        </p:spPr>
        <p:txBody>
          <a:bodyPr lIns="0" tIns="0" rIns="0" bIns="0" rtlCol="0" anchor="t">
            <a:spAutoFit/>
          </a:bodyPr>
          <a:lstStyle/>
          <a:p>
            <a:pPr algn="l">
              <a:lnSpc>
                <a:spcPts val="1395"/>
              </a:lnSpc>
            </a:pPr>
            <a:r>
              <a:rPr lang="en-US" sz="900" spc="45">
                <a:solidFill>
                  <a:srgbClr val="07113C"/>
                </a:solidFill>
                <a:latin typeface="Poppins"/>
                <a:ea typeface="Poppins"/>
                <a:cs typeface="Poppins"/>
                <a:sym typeface="Poppins"/>
              </a:rPr>
              <a:t>Français : Bien</a:t>
            </a:r>
          </a:p>
          <a:p>
            <a:pPr algn="l">
              <a:lnSpc>
                <a:spcPts val="1395"/>
              </a:lnSpc>
            </a:pPr>
            <a:r>
              <a:rPr lang="en-US" sz="900" spc="45">
                <a:solidFill>
                  <a:srgbClr val="07113C"/>
                </a:solidFill>
                <a:latin typeface="Poppins"/>
                <a:ea typeface="Poppins"/>
                <a:cs typeface="Poppins"/>
                <a:sym typeface="Poppins"/>
              </a:rPr>
              <a:t>Anglais : Intermédiare</a:t>
            </a:r>
          </a:p>
          <a:p>
            <a:pPr algn="l">
              <a:lnSpc>
                <a:spcPts val="1395"/>
              </a:lnSpc>
            </a:pPr>
            <a:r>
              <a:rPr lang="en-US" sz="900" spc="45">
                <a:solidFill>
                  <a:srgbClr val="07113C"/>
                </a:solidFill>
                <a:latin typeface="Poppins"/>
                <a:ea typeface="Poppins"/>
                <a:cs typeface="Poppins"/>
                <a:sym typeface="Poppins"/>
              </a:rPr>
              <a:t> </a:t>
            </a:r>
          </a:p>
        </p:txBody>
      </p:sp>
      <p:sp>
        <p:nvSpPr>
          <p:cNvPr id="36" name="TextBox 36"/>
          <p:cNvSpPr txBox="1"/>
          <p:nvPr/>
        </p:nvSpPr>
        <p:spPr>
          <a:xfrm>
            <a:off x="3511966" y="3557446"/>
            <a:ext cx="3685249" cy="148589"/>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Semi-Bold"/>
                <a:ea typeface="Poppins Semi-Bold"/>
                <a:cs typeface="Poppins Semi-Bold"/>
                <a:sym typeface="Poppins Semi-Bold"/>
              </a:rPr>
              <a:t>MAINTENANCIER</a:t>
            </a:r>
          </a:p>
        </p:txBody>
      </p:sp>
      <p:sp>
        <p:nvSpPr>
          <p:cNvPr id="37" name="TextBox 37"/>
          <p:cNvSpPr txBox="1"/>
          <p:nvPr/>
        </p:nvSpPr>
        <p:spPr>
          <a:xfrm>
            <a:off x="3501955" y="4480741"/>
            <a:ext cx="3685249" cy="148589"/>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Semi-Bold"/>
                <a:ea typeface="Poppins Semi-Bold"/>
                <a:cs typeface="Poppins Semi-Bold"/>
                <a:sym typeface="Poppins Semi-Bold"/>
              </a:rPr>
              <a:t>ELECTRONICIEN</a:t>
            </a:r>
          </a:p>
        </p:txBody>
      </p:sp>
      <p:sp>
        <p:nvSpPr>
          <p:cNvPr id="38" name="TextBox 38"/>
          <p:cNvSpPr txBox="1"/>
          <p:nvPr/>
        </p:nvSpPr>
        <p:spPr>
          <a:xfrm>
            <a:off x="3501955" y="5150246"/>
            <a:ext cx="3685249" cy="148589"/>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Semi-Bold"/>
                <a:ea typeface="Poppins Semi-Bold"/>
                <a:cs typeface="Poppins Semi-Bold"/>
                <a:sym typeface="Poppins Semi-Bold"/>
              </a:rPr>
              <a:t>APPRENANT </a:t>
            </a:r>
          </a:p>
        </p:txBody>
      </p:sp>
      <p:sp>
        <p:nvSpPr>
          <p:cNvPr id="39" name="TextBox 39"/>
          <p:cNvSpPr txBox="1"/>
          <p:nvPr/>
        </p:nvSpPr>
        <p:spPr>
          <a:xfrm>
            <a:off x="3511966" y="6121044"/>
            <a:ext cx="3685249" cy="148589"/>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Semi-Bold"/>
                <a:ea typeface="Poppins Semi-Bold"/>
                <a:cs typeface="Poppins Semi-Bold"/>
                <a:sym typeface="Poppins Semi-Bold"/>
              </a:rPr>
              <a:t>PRÉSIDENT D’UNE ASSOCIATION</a:t>
            </a:r>
          </a:p>
        </p:txBody>
      </p:sp>
      <p:sp>
        <p:nvSpPr>
          <p:cNvPr id="40" name="TextBox 40"/>
          <p:cNvSpPr txBox="1"/>
          <p:nvPr/>
        </p:nvSpPr>
        <p:spPr>
          <a:xfrm>
            <a:off x="394773" y="3555115"/>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DIPLOMÉ EN INSTRUMENTATION</a:t>
            </a:r>
          </a:p>
        </p:txBody>
      </p:sp>
      <p:sp>
        <p:nvSpPr>
          <p:cNvPr id="41" name="TextBox 41"/>
          <p:cNvSpPr txBox="1"/>
          <p:nvPr/>
        </p:nvSpPr>
        <p:spPr>
          <a:xfrm>
            <a:off x="395949" y="4129370"/>
            <a:ext cx="267707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CERTIFICAT EN ÉLECTRICITÉ INDUSTRIELLE</a:t>
            </a:r>
          </a:p>
        </p:txBody>
      </p:sp>
      <p:sp>
        <p:nvSpPr>
          <p:cNvPr id="42" name="TextBox 42"/>
          <p:cNvSpPr txBox="1"/>
          <p:nvPr/>
        </p:nvSpPr>
        <p:spPr>
          <a:xfrm>
            <a:off x="395949" y="4779825"/>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FORMATION EN MARKETING DIGITAL</a:t>
            </a:r>
          </a:p>
        </p:txBody>
      </p:sp>
      <p:sp>
        <p:nvSpPr>
          <p:cNvPr id="43" name="TextBox 43"/>
          <p:cNvSpPr txBox="1"/>
          <p:nvPr/>
        </p:nvSpPr>
        <p:spPr>
          <a:xfrm>
            <a:off x="395949" y="3727417"/>
            <a:ext cx="2883676"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07113C"/>
                </a:solidFill>
                <a:latin typeface="Poppins"/>
                <a:ea typeface="Poppins"/>
                <a:cs typeface="Poppins"/>
                <a:sym typeface="Poppins"/>
              </a:rPr>
              <a:t>Institut Supérieur de Technologie de Mamou</a:t>
            </a:r>
          </a:p>
        </p:txBody>
      </p:sp>
      <p:sp>
        <p:nvSpPr>
          <p:cNvPr id="44" name="TextBox 44"/>
          <p:cNvSpPr txBox="1"/>
          <p:nvPr/>
        </p:nvSpPr>
        <p:spPr>
          <a:xfrm>
            <a:off x="395949" y="4999751"/>
            <a:ext cx="2394550"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07113C"/>
                </a:solidFill>
                <a:latin typeface="Poppins"/>
                <a:ea typeface="Poppins"/>
                <a:cs typeface="Poppins"/>
                <a:sym typeface="Poppins"/>
              </a:rPr>
              <a:t>Orange digital center</a:t>
            </a:r>
          </a:p>
        </p:txBody>
      </p:sp>
      <p:sp>
        <p:nvSpPr>
          <p:cNvPr id="45" name="TextBox 45"/>
          <p:cNvSpPr txBox="1"/>
          <p:nvPr/>
        </p:nvSpPr>
        <p:spPr>
          <a:xfrm>
            <a:off x="537208" y="8505245"/>
            <a:ext cx="2394550" cy="148589"/>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Semi-Bold"/>
                <a:ea typeface="Poppins Semi-Bold"/>
                <a:cs typeface="Poppins Semi-Bold"/>
                <a:sym typeface="Poppins Semi-Bold"/>
              </a:rPr>
              <a:t>LANGUES PARLÉES</a:t>
            </a:r>
          </a:p>
        </p:txBody>
      </p:sp>
      <p:sp>
        <p:nvSpPr>
          <p:cNvPr id="46" name="TextBox 46"/>
          <p:cNvSpPr txBox="1"/>
          <p:nvPr/>
        </p:nvSpPr>
        <p:spPr>
          <a:xfrm>
            <a:off x="537208" y="9313205"/>
            <a:ext cx="2394550" cy="148589"/>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Semi-Bold"/>
                <a:ea typeface="Poppins Semi-Bold"/>
                <a:cs typeface="Poppins Semi-Bold"/>
                <a:sym typeface="Poppins Semi-Bold"/>
              </a:rPr>
              <a:t>EXPERTISE</a:t>
            </a:r>
          </a:p>
        </p:txBody>
      </p:sp>
      <p:sp>
        <p:nvSpPr>
          <p:cNvPr id="47" name="TextBox 47"/>
          <p:cNvSpPr txBox="1"/>
          <p:nvPr/>
        </p:nvSpPr>
        <p:spPr>
          <a:xfrm>
            <a:off x="3511966" y="3722986"/>
            <a:ext cx="3685249"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A6A9B0"/>
                </a:solidFill>
                <a:latin typeface="Poppins"/>
                <a:ea typeface="Poppins"/>
                <a:cs typeface="Poppins"/>
                <a:sym typeface="Poppins"/>
              </a:rPr>
              <a:t>Multiservices-Mamou  Juin 2023-Janv. 2025</a:t>
            </a:r>
          </a:p>
        </p:txBody>
      </p:sp>
      <p:sp>
        <p:nvSpPr>
          <p:cNvPr id="48" name="TextBox 48"/>
          <p:cNvSpPr txBox="1"/>
          <p:nvPr/>
        </p:nvSpPr>
        <p:spPr>
          <a:xfrm>
            <a:off x="3511966" y="4687769"/>
            <a:ext cx="3685249"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A6A9B0"/>
                </a:solidFill>
                <a:latin typeface="Poppins"/>
                <a:ea typeface="Poppins"/>
                <a:cs typeface="Poppins"/>
                <a:sym typeface="Poppins"/>
              </a:rPr>
              <a:t>Un groupe d'expérience à Mamou Févr. 2025-Mai 2025</a:t>
            </a:r>
          </a:p>
        </p:txBody>
      </p:sp>
      <p:sp>
        <p:nvSpPr>
          <p:cNvPr id="49" name="TextBox 49"/>
          <p:cNvSpPr txBox="1"/>
          <p:nvPr/>
        </p:nvSpPr>
        <p:spPr>
          <a:xfrm>
            <a:off x="3547113" y="5334281"/>
            <a:ext cx="3685249"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A6A9B0"/>
                </a:solidFill>
                <a:latin typeface="Poppins"/>
                <a:ea typeface="Poppins"/>
                <a:cs typeface="Poppins"/>
                <a:sym typeface="Poppins"/>
              </a:rPr>
              <a:t>SIMPLOM GUINÉE Juil. 2025-Sept. 2025</a:t>
            </a:r>
          </a:p>
        </p:txBody>
      </p:sp>
      <p:sp>
        <p:nvSpPr>
          <p:cNvPr id="50" name="TextBox 50"/>
          <p:cNvSpPr txBox="1"/>
          <p:nvPr/>
        </p:nvSpPr>
        <p:spPr>
          <a:xfrm>
            <a:off x="3587680" y="6364883"/>
            <a:ext cx="3685249" cy="3009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B0A6AD"/>
                </a:solidFill>
                <a:latin typeface="Poppins"/>
                <a:ea typeface="Poppins"/>
                <a:cs typeface="Poppins"/>
                <a:sym typeface="Poppins"/>
              </a:rPr>
              <a:t>AJERAGK (Association des Jeunes Etudians Resortisant et Amis de Guéckedou-Kissidou)</a:t>
            </a:r>
          </a:p>
        </p:txBody>
      </p:sp>
      <p:sp>
        <p:nvSpPr>
          <p:cNvPr id="51" name="TextBox 51"/>
          <p:cNvSpPr txBox="1"/>
          <p:nvPr/>
        </p:nvSpPr>
        <p:spPr>
          <a:xfrm>
            <a:off x="394773" y="3923631"/>
            <a:ext cx="2394550" cy="148589"/>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A6A9B0"/>
                </a:solidFill>
                <a:latin typeface="Poppins Medium"/>
                <a:ea typeface="Poppins Medium"/>
                <a:cs typeface="Poppins Medium"/>
                <a:sym typeface="Poppins Medium"/>
              </a:rPr>
              <a:t>2022- 2025</a:t>
            </a:r>
          </a:p>
        </p:txBody>
      </p:sp>
      <p:sp>
        <p:nvSpPr>
          <p:cNvPr id="52" name="TextBox 52"/>
          <p:cNvSpPr txBox="1"/>
          <p:nvPr/>
        </p:nvSpPr>
        <p:spPr>
          <a:xfrm>
            <a:off x="395949" y="4535986"/>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A6A9B0"/>
                </a:solidFill>
                <a:latin typeface="Poppins Medium"/>
                <a:ea typeface="Poppins Medium"/>
                <a:cs typeface="Poppins Medium"/>
                <a:sym typeface="Poppins Medium"/>
              </a:rPr>
              <a:t>Janv. 2025 - Avril 2025</a:t>
            </a:r>
          </a:p>
        </p:txBody>
      </p:sp>
      <p:sp>
        <p:nvSpPr>
          <p:cNvPr id="53" name="TextBox 53"/>
          <p:cNvSpPr txBox="1"/>
          <p:nvPr/>
        </p:nvSpPr>
        <p:spPr>
          <a:xfrm>
            <a:off x="395949" y="5205491"/>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A6A9B0"/>
                </a:solidFill>
                <a:latin typeface="Poppins Medium"/>
                <a:ea typeface="Poppins Medium"/>
                <a:cs typeface="Poppins Medium"/>
                <a:sym typeface="Poppins Medium"/>
              </a:rPr>
              <a:t>2025</a:t>
            </a:r>
          </a:p>
        </p:txBody>
      </p:sp>
      <p:sp>
        <p:nvSpPr>
          <p:cNvPr id="54" name="TextBox 54"/>
          <p:cNvSpPr txBox="1"/>
          <p:nvPr/>
        </p:nvSpPr>
        <p:spPr>
          <a:xfrm>
            <a:off x="3441673" y="3909675"/>
            <a:ext cx="3755542" cy="485774"/>
          </a:xfrm>
          <a:prstGeom prst="rect">
            <a:avLst/>
          </a:prstGeom>
        </p:spPr>
        <p:txBody>
          <a:bodyPr lIns="0" tIns="0" rIns="0" bIns="0" rtlCol="0" anchor="t">
            <a:spAutoFit/>
          </a:bodyPr>
          <a:lstStyle/>
          <a:p>
            <a:pPr marL="194316" lvl="1" indent="-97158" algn="l">
              <a:lnSpc>
                <a:spcPts val="1305"/>
              </a:lnSpc>
              <a:buFont typeface="Arial"/>
              <a:buChar char="•"/>
            </a:pPr>
            <a:r>
              <a:rPr lang="en-US" sz="900" spc="45">
                <a:solidFill>
                  <a:srgbClr val="07113C"/>
                </a:solidFill>
                <a:latin typeface="Poppins"/>
                <a:ea typeface="Poppins"/>
                <a:cs typeface="Poppins"/>
                <a:sym typeface="Poppins"/>
              </a:rPr>
              <a:t>Maintenancier des équipements et appareils électroniques et électriques de Multiservices </a:t>
            </a:r>
          </a:p>
          <a:p>
            <a:pPr marL="194316" lvl="1" indent="-97158" algn="l">
              <a:lnSpc>
                <a:spcPts val="1305"/>
              </a:lnSpc>
              <a:buFont typeface="Arial"/>
              <a:buChar char="•"/>
            </a:pPr>
            <a:r>
              <a:rPr lang="en-US" sz="900" spc="45">
                <a:solidFill>
                  <a:srgbClr val="07113C"/>
                </a:solidFill>
                <a:latin typeface="Poppins"/>
                <a:ea typeface="Poppins"/>
                <a:cs typeface="Poppins"/>
                <a:sym typeface="Poppins"/>
              </a:rPr>
              <a:t>Vente des accesoires électriques et électroniques</a:t>
            </a:r>
          </a:p>
        </p:txBody>
      </p:sp>
      <p:sp>
        <p:nvSpPr>
          <p:cNvPr id="55" name="TextBox 55"/>
          <p:cNvSpPr txBox="1"/>
          <p:nvPr/>
        </p:nvSpPr>
        <p:spPr>
          <a:xfrm>
            <a:off x="3511966" y="4893508"/>
            <a:ext cx="3755542" cy="161924"/>
          </a:xfrm>
          <a:prstGeom prst="rect">
            <a:avLst/>
          </a:prstGeom>
        </p:spPr>
        <p:txBody>
          <a:bodyPr lIns="0" tIns="0" rIns="0" bIns="0" rtlCol="0" anchor="t">
            <a:spAutoFit/>
          </a:bodyPr>
          <a:lstStyle/>
          <a:p>
            <a:pPr marL="194316" lvl="1" indent="-97158" algn="l">
              <a:lnSpc>
                <a:spcPts val="1305"/>
              </a:lnSpc>
              <a:buFont typeface="Arial"/>
              <a:buChar char="•"/>
            </a:pPr>
            <a:r>
              <a:rPr lang="en-US" sz="900" spc="45">
                <a:solidFill>
                  <a:srgbClr val="07113C"/>
                </a:solidFill>
                <a:latin typeface="Poppins"/>
                <a:ea typeface="Poppins"/>
                <a:cs typeface="Poppins"/>
                <a:sym typeface="Poppins"/>
              </a:rPr>
              <a:t>Participation à la réalisation d’un Digesteur de biogaz.</a:t>
            </a:r>
          </a:p>
        </p:txBody>
      </p:sp>
      <p:sp>
        <p:nvSpPr>
          <p:cNvPr id="56" name="TextBox 56"/>
          <p:cNvSpPr txBox="1"/>
          <p:nvPr/>
        </p:nvSpPr>
        <p:spPr>
          <a:xfrm>
            <a:off x="3511966" y="5540020"/>
            <a:ext cx="3755542" cy="485774"/>
          </a:xfrm>
          <a:prstGeom prst="rect">
            <a:avLst/>
          </a:prstGeom>
        </p:spPr>
        <p:txBody>
          <a:bodyPr lIns="0" tIns="0" rIns="0" bIns="0" rtlCol="0" anchor="t">
            <a:spAutoFit/>
          </a:bodyPr>
          <a:lstStyle/>
          <a:p>
            <a:pPr marL="194316" lvl="1" indent="-97158" algn="l">
              <a:lnSpc>
                <a:spcPts val="1305"/>
              </a:lnSpc>
              <a:buFont typeface="Arial"/>
              <a:buChar char="•"/>
            </a:pPr>
            <a:r>
              <a:rPr lang="en-US" sz="900" spc="45">
                <a:solidFill>
                  <a:srgbClr val="07113C"/>
                </a:solidFill>
                <a:latin typeface="Poppins"/>
                <a:ea typeface="Poppins"/>
                <a:cs typeface="Poppins"/>
                <a:sym typeface="Poppins"/>
              </a:rPr>
              <a:t>Formation en développement web au cours de laquelle je me suis perfectionné en résolution de problèmes et le travail en équipe</a:t>
            </a:r>
          </a:p>
        </p:txBody>
      </p:sp>
      <p:sp>
        <p:nvSpPr>
          <p:cNvPr id="57" name="TextBox 57"/>
          <p:cNvSpPr txBox="1"/>
          <p:nvPr/>
        </p:nvSpPr>
        <p:spPr>
          <a:xfrm>
            <a:off x="3476820" y="6751597"/>
            <a:ext cx="3755542" cy="161924"/>
          </a:xfrm>
          <a:prstGeom prst="rect">
            <a:avLst/>
          </a:prstGeom>
        </p:spPr>
        <p:txBody>
          <a:bodyPr lIns="0" tIns="0" rIns="0" bIns="0" rtlCol="0" anchor="t">
            <a:spAutoFit/>
          </a:bodyPr>
          <a:lstStyle/>
          <a:p>
            <a:pPr marL="194316" lvl="1" indent="-97158" algn="l">
              <a:lnSpc>
                <a:spcPts val="1305"/>
              </a:lnSpc>
              <a:buFont typeface="Arial"/>
              <a:buChar char="•"/>
            </a:pPr>
            <a:r>
              <a:rPr lang="en-US" sz="900" spc="45">
                <a:solidFill>
                  <a:srgbClr val="07113C"/>
                </a:solidFill>
                <a:latin typeface="Poppins"/>
                <a:ea typeface="Poppins"/>
                <a:cs typeface="Poppins"/>
                <a:sym typeface="Poppins"/>
              </a:rPr>
              <a:t>Responsabilité de président d’une association</a:t>
            </a:r>
          </a:p>
        </p:txBody>
      </p:sp>
      <p:sp>
        <p:nvSpPr>
          <p:cNvPr id="58" name="TextBox 58"/>
          <p:cNvSpPr txBox="1"/>
          <p:nvPr/>
        </p:nvSpPr>
        <p:spPr>
          <a:xfrm>
            <a:off x="395949" y="4320721"/>
            <a:ext cx="2883676"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07113C"/>
                </a:solidFill>
                <a:latin typeface="Poppins"/>
                <a:ea typeface="Poppins"/>
                <a:cs typeface="Poppins"/>
                <a:sym typeface="Poppins"/>
              </a:rPr>
              <a:t>Institut Supérieur de Technologie de Mamou</a:t>
            </a:r>
          </a:p>
        </p:txBody>
      </p:sp>
      <p:sp>
        <p:nvSpPr>
          <p:cNvPr id="59" name="TextBox 59"/>
          <p:cNvSpPr txBox="1"/>
          <p:nvPr/>
        </p:nvSpPr>
        <p:spPr>
          <a:xfrm>
            <a:off x="395949" y="5410813"/>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DÉVELOPPEMENT WEB</a:t>
            </a:r>
          </a:p>
        </p:txBody>
      </p:sp>
      <p:sp>
        <p:nvSpPr>
          <p:cNvPr id="60" name="TextBox 60"/>
          <p:cNvSpPr txBox="1"/>
          <p:nvPr/>
        </p:nvSpPr>
        <p:spPr>
          <a:xfrm>
            <a:off x="395949" y="5587783"/>
            <a:ext cx="2394550"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07113C"/>
                </a:solidFill>
                <a:latin typeface="Poppins"/>
                <a:ea typeface="Poppins"/>
                <a:cs typeface="Poppins"/>
                <a:sym typeface="Poppins"/>
              </a:rPr>
              <a:t>Simplon Guinée ET OIF</a:t>
            </a:r>
          </a:p>
        </p:txBody>
      </p:sp>
      <p:sp>
        <p:nvSpPr>
          <p:cNvPr id="61" name="TextBox 61"/>
          <p:cNvSpPr txBox="1"/>
          <p:nvPr/>
        </p:nvSpPr>
        <p:spPr>
          <a:xfrm>
            <a:off x="395949" y="5803047"/>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A6A9B0"/>
                </a:solidFill>
                <a:latin typeface="Poppins Medium"/>
                <a:ea typeface="Poppins Medium"/>
                <a:cs typeface="Poppins Medium"/>
                <a:sym typeface="Poppins Medium"/>
              </a:rPr>
              <a:t>Juin 2025-Sept. 2025</a:t>
            </a:r>
          </a:p>
        </p:txBody>
      </p:sp>
      <p:sp>
        <p:nvSpPr>
          <p:cNvPr id="62" name="TextBox 62"/>
          <p:cNvSpPr txBox="1"/>
          <p:nvPr/>
        </p:nvSpPr>
        <p:spPr>
          <a:xfrm>
            <a:off x="394773" y="5972509"/>
            <a:ext cx="2740853" cy="414671"/>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CERTIFICATION EN INNOVATION, ENTREPRENEURIAT ET TRANSFORMATION NUMÉRIQUE</a:t>
            </a:r>
          </a:p>
        </p:txBody>
      </p:sp>
      <p:sp>
        <p:nvSpPr>
          <p:cNvPr id="63" name="TextBox 63"/>
          <p:cNvSpPr txBox="1"/>
          <p:nvPr/>
        </p:nvSpPr>
        <p:spPr>
          <a:xfrm>
            <a:off x="395949" y="6444329"/>
            <a:ext cx="2394550"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07113C"/>
                </a:solidFill>
                <a:latin typeface="Poppins"/>
                <a:ea typeface="Poppins"/>
                <a:cs typeface="Poppins"/>
                <a:sym typeface="Poppins"/>
              </a:rPr>
              <a:t>ANSUTEN de La Tech et de L'Innovation</a:t>
            </a:r>
          </a:p>
        </p:txBody>
      </p:sp>
      <p:sp>
        <p:nvSpPr>
          <p:cNvPr id="64" name="TextBox 64"/>
          <p:cNvSpPr txBox="1"/>
          <p:nvPr/>
        </p:nvSpPr>
        <p:spPr>
          <a:xfrm>
            <a:off x="394773" y="6617497"/>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A6A9B0"/>
                </a:solidFill>
                <a:latin typeface="Poppins Medium"/>
                <a:ea typeface="Poppins Medium"/>
                <a:cs typeface="Poppins Medium"/>
                <a:sym typeface="Poppins Medium"/>
              </a:rPr>
              <a:t>Août 2025</a:t>
            </a:r>
          </a:p>
        </p:txBody>
      </p:sp>
      <p:sp>
        <p:nvSpPr>
          <p:cNvPr id="65" name="TextBox 65"/>
          <p:cNvSpPr txBox="1"/>
          <p:nvPr/>
        </p:nvSpPr>
        <p:spPr>
          <a:xfrm>
            <a:off x="397877" y="6790456"/>
            <a:ext cx="2740853" cy="414671"/>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FORMATION EN PROGRAMMATIONS ET RÉALISATIONS AVEC LE MICROCONTRÔLEUR ARDUINO UNO</a:t>
            </a:r>
          </a:p>
        </p:txBody>
      </p:sp>
      <p:sp>
        <p:nvSpPr>
          <p:cNvPr id="66" name="TextBox 66"/>
          <p:cNvSpPr txBox="1"/>
          <p:nvPr/>
        </p:nvSpPr>
        <p:spPr>
          <a:xfrm>
            <a:off x="394773" y="7214651"/>
            <a:ext cx="2802120" cy="143726"/>
          </a:xfrm>
          <a:prstGeom prst="rect">
            <a:avLst/>
          </a:prstGeom>
        </p:spPr>
        <p:txBody>
          <a:bodyPr lIns="0" tIns="0" rIns="0" bIns="0" rtlCol="0" anchor="t">
            <a:spAutoFit/>
          </a:bodyPr>
          <a:lstStyle/>
          <a:p>
            <a:pPr marL="0" lvl="0" indent="0" algn="l">
              <a:lnSpc>
                <a:spcPts val="1120"/>
              </a:lnSpc>
              <a:spcBef>
                <a:spcPct val="0"/>
              </a:spcBef>
            </a:pPr>
            <a:r>
              <a:rPr lang="en-US" sz="800" spc="40">
                <a:solidFill>
                  <a:srgbClr val="07113C"/>
                </a:solidFill>
                <a:latin typeface="Poppins"/>
                <a:ea typeface="Poppins"/>
                <a:cs typeface="Poppins"/>
                <a:sym typeface="Poppins"/>
              </a:rPr>
              <a:t>Institut Supérieur de Technologie de Mamou</a:t>
            </a:r>
          </a:p>
        </p:txBody>
      </p:sp>
      <p:sp>
        <p:nvSpPr>
          <p:cNvPr id="67" name="TextBox 67"/>
          <p:cNvSpPr txBox="1"/>
          <p:nvPr/>
        </p:nvSpPr>
        <p:spPr>
          <a:xfrm>
            <a:off x="394773" y="7367903"/>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A6A9B0"/>
                </a:solidFill>
                <a:latin typeface="Poppins Medium"/>
                <a:ea typeface="Poppins Medium"/>
                <a:cs typeface="Poppins Medium"/>
                <a:sym typeface="Poppins Medium"/>
              </a:rPr>
              <a:t>Juin 2024-Août 2024</a:t>
            </a:r>
          </a:p>
        </p:txBody>
      </p:sp>
      <p:sp>
        <p:nvSpPr>
          <p:cNvPr id="68" name="TextBox 68"/>
          <p:cNvSpPr txBox="1"/>
          <p:nvPr/>
        </p:nvSpPr>
        <p:spPr>
          <a:xfrm>
            <a:off x="394773" y="7564117"/>
            <a:ext cx="2740853" cy="279199"/>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BACCALAURÉAT SCIENTIFIQUE (SCIENCES MATHÉMATIQUES)</a:t>
            </a:r>
          </a:p>
        </p:txBody>
      </p:sp>
      <p:sp>
        <p:nvSpPr>
          <p:cNvPr id="69" name="TextBox 69"/>
          <p:cNvSpPr txBox="1"/>
          <p:nvPr/>
        </p:nvSpPr>
        <p:spPr>
          <a:xfrm>
            <a:off x="397877" y="7852840"/>
            <a:ext cx="2802120" cy="143726"/>
          </a:xfrm>
          <a:prstGeom prst="rect">
            <a:avLst/>
          </a:prstGeom>
        </p:spPr>
        <p:txBody>
          <a:bodyPr lIns="0" tIns="0" rIns="0" bIns="0" rtlCol="0" anchor="t">
            <a:spAutoFit/>
          </a:bodyPr>
          <a:lstStyle/>
          <a:p>
            <a:pPr marL="0" lvl="0" indent="0" algn="l">
              <a:lnSpc>
                <a:spcPts val="1120"/>
              </a:lnSpc>
              <a:spcBef>
                <a:spcPct val="0"/>
              </a:spcBef>
            </a:pPr>
            <a:r>
              <a:rPr lang="en-US" sz="800" spc="40">
                <a:solidFill>
                  <a:srgbClr val="07113C"/>
                </a:solidFill>
                <a:latin typeface="Poppins"/>
                <a:ea typeface="Poppins"/>
                <a:cs typeface="Poppins"/>
                <a:sym typeface="Poppins"/>
              </a:rPr>
              <a:t>Lycée SOUNDIATA KEITA</a:t>
            </a:r>
          </a:p>
        </p:txBody>
      </p:sp>
      <p:sp>
        <p:nvSpPr>
          <p:cNvPr id="70" name="TextBox 70"/>
          <p:cNvSpPr txBox="1"/>
          <p:nvPr/>
        </p:nvSpPr>
        <p:spPr>
          <a:xfrm>
            <a:off x="394773" y="8044192"/>
            <a:ext cx="2394550"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A6A9B0"/>
                </a:solidFill>
                <a:latin typeface="Poppins Medium"/>
                <a:ea typeface="Poppins Medium"/>
                <a:cs typeface="Poppins Medium"/>
                <a:sym typeface="Poppins Medium"/>
              </a:rPr>
              <a:t>Sept. 2021-Juil. 2022</a:t>
            </a:r>
          </a:p>
        </p:txBody>
      </p:sp>
      <p:sp>
        <p:nvSpPr>
          <p:cNvPr id="71" name="TextBox 71"/>
          <p:cNvSpPr txBox="1"/>
          <p:nvPr/>
        </p:nvSpPr>
        <p:spPr>
          <a:xfrm>
            <a:off x="3501955" y="6993029"/>
            <a:ext cx="3685249" cy="148589"/>
          </a:xfrm>
          <a:prstGeom prst="rect">
            <a:avLst/>
          </a:prstGeom>
        </p:spPr>
        <p:txBody>
          <a:bodyPr lIns="0" tIns="0" rIns="0" bIns="0" rtlCol="0" anchor="t">
            <a:spAutoFit/>
          </a:bodyPr>
          <a:lstStyle/>
          <a:p>
            <a:pPr marL="0" lvl="0" indent="0" algn="l">
              <a:lnSpc>
                <a:spcPts val="1260"/>
              </a:lnSpc>
              <a:spcBef>
                <a:spcPct val="0"/>
              </a:spcBef>
            </a:pPr>
            <a:r>
              <a:rPr lang="en-US" sz="900" b="1" spc="45">
                <a:solidFill>
                  <a:srgbClr val="07113C"/>
                </a:solidFill>
                <a:latin typeface="Poppins Semi-Bold"/>
                <a:ea typeface="Poppins Semi-Bold"/>
                <a:cs typeface="Poppins Semi-Bold"/>
                <a:sym typeface="Poppins Semi-Bold"/>
              </a:rPr>
              <a:t>STAGIAIRE </a:t>
            </a:r>
          </a:p>
        </p:txBody>
      </p:sp>
      <p:sp>
        <p:nvSpPr>
          <p:cNvPr id="72" name="TextBox 72"/>
          <p:cNvSpPr txBox="1"/>
          <p:nvPr/>
        </p:nvSpPr>
        <p:spPr>
          <a:xfrm>
            <a:off x="3582260" y="7189243"/>
            <a:ext cx="3685249" cy="148589"/>
          </a:xfrm>
          <a:prstGeom prst="rect">
            <a:avLst/>
          </a:prstGeom>
        </p:spPr>
        <p:txBody>
          <a:bodyPr lIns="0" tIns="0" rIns="0" bIns="0" rtlCol="0" anchor="t">
            <a:spAutoFit/>
          </a:bodyPr>
          <a:lstStyle/>
          <a:p>
            <a:pPr marL="0" lvl="0" indent="0" algn="l">
              <a:lnSpc>
                <a:spcPts val="1260"/>
              </a:lnSpc>
              <a:spcBef>
                <a:spcPct val="0"/>
              </a:spcBef>
            </a:pPr>
            <a:r>
              <a:rPr lang="en-US" sz="900" spc="45">
                <a:solidFill>
                  <a:srgbClr val="A6A9B0"/>
                </a:solidFill>
                <a:latin typeface="Poppins"/>
                <a:ea typeface="Poppins"/>
                <a:cs typeface="Poppins"/>
                <a:sym typeface="Poppins"/>
              </a:rPr>
              <a:t>RIOTINTO-Simfer maintenant</a:t>
            </a:r>
          </a:p>
        </p:txBody>
      </p:sp>
      <p:sp>
        <p:nvSpPr>
          <p:cNvPr id="73" name="TextBox 73"/>
          <p:cNvSpPr txBox="1"/>
          <p:nvPr/>
        </p:nvSpPr>
        <p:spPr>
          <a:xfrm>
            <a:off x="3476820" y="7385457"/>
            <a:ext cx="3755542" cy="323849"/>
          </a:xfrm>
          <a:prstGeom prst="rect">
            <a:avLst/>
          </a:prstGeom>
        </p:spPr>
        <p:txBody>
          <a:bodyPr lIns="0" tIns="0" rIns="0" bIns="0" rtlCol="0" anchor="t">
            <a:spAutoFit/>
          </a:bodyPr>
          <a:lstStyle/>
          <a:p>
            <a:pPr marL="194316" lvl="1" indent="-97158" algn="l">
              <a:lnSpc>
                <a:spcPts val="1305"/>
              </a:lnSpc>
              <a:buFont typeface="Arial"/>
              <a:buChar char="•"/>
            </a:pPr>
            <a:r>
              <a:rPr lang="en-US" sz="900" spc="45">
                <a:solidFill>
                  <a:srgbClr val="07113C"/>
                </a:solidFill>
                <a:latin typeface="Poppins"/>
                <a:ea typeface="Poppins"/>
                <a:cs typeface="Poppins"/>
                <a:sym typeface="Poppins"/>
              </a:rPr>
              <a:t>Stagiaire en Maintenaces mécanique des équipements fixes</a:t>
            </a:r>
          </a:p>
        </p:txBody>
      </p:sp>
      <p:grpSp>
        <p:nvGrpSpPr>
          <p:cNvPr id="74" name="Group 74"/>
          <p:cNvGrpSpPr/>
          <p:nvPr/>
        </p:nvGrpSpPr>
        <p:grpSpPr>
          <a:xfrm>
            <a:off x="3547113" y="7853622"/>
            <a:ext cx="3597735" cy="2653876"/>
            <a:chOff x="0" y="0"/>
            <a:chExt cx="1289347" cy="951089"/>
          </a:xfrm>
        </p:grpSpPr>
        <p:sp>
          <p:nvSpPr>
            <p:cNvPr id="75" name="Freeform 75"/>
            <p:cNvSpPr/>
            <p:nvPr/>
          </p:nvSpPr>
          <p:spPr>
            <a:xfrm>
              <a:off x="0" y="0"/>
              <a:ext cx="1289347" cy="951089"/>
            </a:xfrm>
            <a:custGeom>
              <a:avLst/>
              <a:gdLst/>
              <a:ahLst/>
              <a:cxnLst/>
              <a:rect l="l" t="t" r="r" b="b"/>
              <a:pathLst>
                <a:path w="1289347" h="951089">
                  <a:moveTo>
                    <a:pt x="0" y="0"/>
                  </a:moveTo>
                  <a:lnTo>
                    <a:pt x="1289347" y="0"/>
                  </a:lnTo>
                  <a:lnTo>
                    <a:pt x="1289347" y="951089"/>
                  </a:lnTo>
                  <a:lnTo>
                    <a:pt x="0" y="951089"/>
                  </a:lnTo>
                  <a:close/>
                </a:path>
              </a:pathLst>
            </a:custGeom>
            <a:solidFill>
              <a:srgbClr val="F5F7FF"/>
            </a:solidFill>
          </p:spPr>
        </p:sp>
        <p:sp>
          <p:nvSpPr>
            <p:cNvPr id="76" name="TextBox 76"/>
            <p:cNvSpPr txBox="1"/>
            <p:nvPr/>
          </p:nvSpPr>
          <p:spPr>
            <a:xfrm>
              <a:off x="0" y="28575"/>
              <a:ext cx="1289347" cy="922514"/>
            </a:xfrm>
            <a:prstGeom prst="rect">
              <a:avLst/>
            </a:prstGeom>
          </p:spPr>
          <p:txBody>
            <a:bodyPr lIns="50800" tIns="50800" rIns="50800" bIns="50800" rtlCol="0" anchor="ctr"/>
            <a:lstStyle/>
            <a:p>
              <a:pPr algn="ctr">
                <a:lnSpc>
                  <a:spcPts val="1800"/>
                </a:lnSpc>
              </a:pPr>
              <a:endParaRPr/>
            </a:p>
          </p:txBody>
        </p:sp>
      </p:grpSp>
      <p:sp>
        <p:nvSpPr>
          <p:cNvPr id="77" name="TextBox 77"/>
          <p:cNvSpPr txBox="1"/>
          <p:nvPr/>
        </p:nvSpPr>
        <p:spPr>
          <a:xfrm>
            <a:off x="4041343" y="7958041"/>
            <a:ext cx="2358614" cy="414352"/>
          </a:xfrm>
          <a:prstGeom prst="rect">
            <a:avLst/>
          </a:prstGeom>
        </p:spPr>
        <p:txBody>
          <a:bodyPr lIns="0" tIns="0" rIns="0" bIns="0" rtlCol="0" anchor="t">
            <a:spAutoFit/>
          </a:bodyPr>
          <a:lstStyle/>
          <a:p>
            <a:pPr algn="l">
              <a:lnSpc>
                <a:spcPts val="1551"/>
              </a:lnSpc>
            </a:pPr>
            <a:r>
              <a:rPr lang="en-US" sz="1551" b="1" spc="77">
                <a:solidFill>
                  <a:srgbClr val="07113C"/>
                </a:solidFill>
                <a:latin typeface="Poppins Semi-Bold"/>
                <a:ea typeface="Poppins Semi-Bold"/>
                <a:cs typeface="Poppins Semi-Bold"/>
                <a:sym typeface="Poppins Semi-Bold"/>
              </a:rPr>
              <a:t>COMPÉTENCES</a:t>
            </a:r>
          </a:p>
          <a:p>
            <a:pPr marL="0" lvl="0" indent="0" algn="l">
              <a:lnSpc>
                <a:spcPts val="1551"/>
              </a:lnSpc>
            </a:pPr>
            <a:endParaRPr lang="en-US" sz="1551" b="1" spc="77">
              <a:solidFill>
                <a:srgbClr val="07113C"/>
              </a:solidFill>
              <a:latin typeface="Poppins Semi-Bold"/>
              <a:ea typeface="Poppins Semi-Bold"/>
              <a:cs typeface="Poppins Semi-Bold"/>
              <a:sym typeface="Poppins Semi-Bold"/>
            </a:endParaRPr>
          </a:p>
        </p:txBody>
      </p:sp>
      <p:sp>
        <p:nvSpPr>
          <p:cNvPr id="78" name="TextBox 78"/>
          <p:cNvSpPr txBox="1"/>
          <p:nvPr/>
        </p:nvSpPr>
        <p:spPr>
          <a:xfrm>
            <a:off x="3629568" y="8305914"/>
            <a:ext cx="3401069" cy="143726"/>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MAINTENANCE DES SYSTÈMES AUTOMATISÉS  INTERMÉDIAIRE</a:t>
            </a:r>
          </a:p>
        </p:txBody>
      </p:sp>
      <p:sp>
        <p:nvSpPr>
          <p:cNvPr id="79" name="TextBox 79"/>
          <p:cNvSpPr txBox="1"/>
          <p:nvPr/>
        </p:nvSpPr>
        <p:spPr>
          <a:xfrm>
            <a:off x="3629568" y="8560490"/>
            <a:ext cx="3401069" cy="143727"/>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LECTURE DE PLANS ÉLECTRIQUES ET ÉLECTRONIQUES </a:t>
            </a:r>
          </a:p>
        </p:txBody>
      </p:sp>
      <p:sp>
        <p:nvSpPr>
          <p:cNvPr id="80" name="TextBox 80"/>
          <p:cNvSpPr txBox="1"/>
          <p:nvPr/>
        </p:nvSpPr>
        <p:spPr>
          <a:xfrm>
            <a:off x="3629568" y="8815065"/>
            <a:ext cx="3401069" cy="143727"/>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UTILISATION DES CAPTEURS ET DES INSTRUMENTS DE MESURE</a:t>
            </a:r>
          </a:p>
        </p:txBody>
      </p:sp>
      <p:sp>
        <p:nvSpPr>
          <p:cNvPr id="81" name="TextBox 81"/>
          <p:cNvSpPr txBox="1"/>
          <p:nvPr/>
        </p:nvSpPr>
        <p:spPr>
          <a:xfrm>
            <a:off x="3629568" y="9069641"/>
            <a:ext cx="3401069" cy="143727"/>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PROGRAMMATION DE MICROCONTRÔLEURS (ARDUINO, ESP32)</a:t>
            </a:r>
          </a:p>
        </p:txBody>
      </p:sp>
      <p:sp>
        <p:nvSpPr>
          <p:cNvPr id="82" name="TextBox 82"/>
          <p:cNvSpPr txBox="1"/>
          <p:nvPr/>
        </p:nvSpPr>
        <p:spPr>
          <a:xfrm>
            <a:off x="3629568" y="9324217"/>
            <a:ext cx="3401069" cy="143727"/>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HTML, CSS, JAVASCRIPT</a:t>
            </a:r>
          </a:p>
        </p:txBody>
      </p:sp>
      <p:sp>
        <p:nvSpPr>
          <p:cNvPr id="83" name="TextBox 83"/>
          <p:cNvSpPr txBox="1"/>
          <p:nvPr/>
        </p:nvSpPr>
        <p:spPr>
          <a:xfrm>
            <a:off x="3629568" y="9578792"/>
            <a:ext cx="3454178" cy="279199"/>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LOGICIELS : PROTEUS, PSIM, MATLAB, VS CODE, AUTOCAD, LOGOSOFT</a:t>
            </a:r>
          </a:p>
        </p:txBody>
      </p:sp>
      <p:sp>
        <p:nvSpPr>
          <p:cNvPr id="84" name="TextBox 84"/>
          <p:cNvSpPr txBox="1"/>
          <p:nvPr/>
        </p:nvSpPr>
        <p:spPr>
          <a:xfrm>
            <a:off x="3629568" y="9924667"/>
            <a:ext cx="3454178" cy="279199"/>
          </a:xfrm>
          <a:prstGeom prst="rect">
            <a:avLst/>
          </a:prstGeom>
        </p:spPr>
        <p:txBody>
          <a:bodyPr lIns="0" tIns="0" rIns="0" bIns="0" rtlCol="0" anchor="t">
            <a:spAutoFit/>
          </a:bodyPr>
          <a:lstStyle/>
          <a:p>
            <a:pPr marL="0" lvl="0" indent="0" algn="l">
              <a:lnSpc>
                <a:spcPts val="1120"/>
              </a:lnSpc>
              <a:spcBef>
                <a:spcPct val="0"/>
              </a:spcBef>
            </a:pPr>
            <a:r>
              <a:rPr lang="en-US" sz="800" b="1" spc="40">
                <a:solidFill>
                  <a:srgbClr val="07113C"/>
                </a:solidFill>
                <a:latin typeface="Poppins Semi-Bold"/>
                <a:ea typeface="Poppins Semi-Bold"/>
                <a:cs typeface="Poppins Semi-Bold"/>
                <a:sym typeface="Poppins Semi-Bold"/>
              </a:rPr>
              <a:t>LES OUTILS TECHNOLOGIQUES : DRIVE COLAB, GOOGLE SLIDES, RENDERFOREST, EXCELLE..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346</Words>
  <Application>Microsoft Office PowerPoint</Application>
  <PresentationFormat>Personnalisé</PresentationFormat>
  <Paragraphs>64</Paragraphs>
  <Slides>1</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vt:i4>
      </vt:variant>
    </vt:vector>
  </HeadingPairs>
  <TitlesOfParts>
    <vt:vector size="9" baseType="lpstr">
      <vt:lpstr>Poppins</vt:lpstr>
      <vt:lpstr>Poppins Light</vt:lpstr>
      <vt:lpstr>Calibri</vt:lpstr>
      <vt:lpstr>Poppins Semi-Bold</vt:lpstr>
      <vt:lpstr>Poppins Medium</vt:lpstr>
      <vt:lpstr>Poppins Bold</vt:lpstr>
      <vt:lpstr>Arial</vt:lpstr>
      <vt:lpstr>Office Theme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Professionnel Comptable Minimaliste Bleu</dc:title>
  <dc:creator>Mamadou Diallo</dc:creator>
  <cp:lastModifiedBy>Mamadou Diallo</cp:lastModifiedBy>
  <cp:revision>3</cp:revision>
  <dcterms:created xsi:type="dcterms:W3CDTF">2006-08-16T00:00:00Z</dcterms:created>
  <dcterms:modified xsi:type="dcterms:W3CDTF">2026-09-04T15:09:43Z</dcterms:modified>
  <dc:identifier>DAHUPCA2WOQ</dc:identifier>
</cp:coreProperties>
</file>